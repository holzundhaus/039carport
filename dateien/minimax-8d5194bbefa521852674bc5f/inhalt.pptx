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carport/-/blob/51f2b395683733213b09067e1c5718bcc1a427c8/_posts/2026-10-31-carport-bestand-sanieren-bestandsschutz-muenchen.md" TargetMode="External"/><Relationship Id="rId3" Type="http://schemas.openxmlformats.org/officeDocument/2006/relationships/hyperlink" Target="https://holzundhaus.github.io/039carport/dateien/minimax-8d5194bbefa521852674bc5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im Bestand sanieren statt neu bauen: Bestandsschutz in München prüfen · Erklärende Präsentation</a:t>
            </a:r>
          </a:p>
        </p:txBody>
      </p:sp>
      <p:sp>
        <p:nvSpPr>
          <p:cNvPr id="3" name="Content Placeholder 2"/>
          <p:cNvSpPr>
            <a:spLocks noGrp="1"/>
          </p:cNvSpPr>
          <p:nvPr>
            <p:ph idx="1"/>
          </p:nvPr>
        </p:nvSpPr>
        <p:spPr/>
        <p:txBody>
          <a:bodyPr/>
          <a:lstStyle/>
          <a:p>
            <a:r>
              <a:t>Überblick: Wer einen bestehenden Carport vergrößern, umbauen oder anders nutzen möchte, sollte nicht davon ausgehen, dass eine frühere Genehmigung sämtliche Veränderungen abdeckt. Der Bestandsschutz bezieht sich grundsätzlich auf die rechtmäßig vorhandene Anlage in ihrem damaligen Zustand. Sobald Maße, Nutzung, Dachform oder Beanspruchung verändert werden, kann eine eigenständige baurechtliche Prüfung erforderlich werden. Eine sorgfältige Vorprüfung am München hilft, unnötige Rückbauten und nachträgliche Genehmigungen zu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Bestandsschutz konkret schützt</a:t>
            </a:r>
          </a:p>
        </p:txBody>
      </p:sp>
      <p:sp>
        <p:nvSpPr>
          <p:cNvPr id="3" name="Content Placeholder 2"/>
          <p:cNvSpPr>
            <a:spLocks noGrp="1"/>
          </p:cNvSpPr>
          <p:nvPr>
            <p:ph idx="1"/>
          </p:nvPr>
        </p:nvSpPr>
        <p:spPr/>
        <p:txBody>
          <a:bodyPr/>
          <a:lstStyle/>
          <a:p>
            <a:pPr>
              <a:defRPr sz="1800"/>
            </a:pPr>
            <a:r>
              <a:t>Bestandsschutz bedeutet nicht, dass beliebige Pläne am bestehenden Carport genehmigt sind. Er schützt die konkrete bauliche Anlage so, wie sie genehmigt oder verfahrensfrei errichtet wurde – einschließlich der damaligen Maße, der zulässigen Nutzung und der relevanten Standorteigenschaften. Eine Erweiterung, eine neue Dachform oder eine Umwidmung kann deshalb eine neue bauliche Anlage begründen, die getrennt geprüft werden muss. Der Schutz endet insbesondere, wenn die Anlage beseitigt oder längere Zeit nicht mehr genutzt wurde. Auch eine deutliche Änderung in Art oder Größe kann ihn für den veränderten Teil beenden. Für den geplanten Umbau sol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Bestandsschutz konkret schützt</a:t>
            </a:r>
          </a:p>
        </p:txBody>
      </p:sp>
      <p:sp>
        <p:nvSpPr>
          <p:cNvPr id="3" name="Content Placeholder 2"/>
          <p:cNvSpPr>
            <a:spLocks noGrp="1"/>
          </p:cNvSpPr>
          <p:nvPr>
            <p:ph idx="1"/>
          </p:nvPr>
        </p:nvSpPr>
        <p:spPr/>
        <p:txBody>
          <a:bodyPr/>
          <a:lstStyle/>
          <a:p>
            <a:pPr>
              <a:defRPr sz="1800"/>
            </a:pPr>
            <a:r>
              <a:t>lte deshalb dokumentiert werden, welcher Ausgangszustand tatsächlich geschützt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Umbau und Erweiterung neu geprüft werden müssen</a:t>
            </a:r>
          </a:p>
        </p:txBody>
      </p:sp>
      <p:sp>
        <p:nvSpPr>
          <p:cNvPr id="3" name="Content Placeholder 2"/>
          <p:cNvSpPr>
            <a:spLocks noGrp="1"/>
          </p:cNvSpPr>
          <p:nvPr>
            <p:ph idx="1"/>
          </p:nvPr>
        </p:nvSpPr>
        <p:spPr/>
        <p:txBody>
          <a:bodyPr/>
          <a:lstStyle/>
          <a:p>
            <a:pPr>
              <a:defRPr sz="1800"/>
            </a:pPr>
            <a:r>
              <a:t>Besonders relevant sind Nutzungsänderungen und Maßangaben. Überdachte Stellplätze können nach Art. 57 BayBO unter bestimmten Voraussetzungen verfahrensfrei sein, etwa bis zu einer Fläche von 50 m² und außerhalb des Außenbereichs. Wird ein Carport zu einem Lager oder überdachten Sitzplatz umgewidmet, kann eine neue Genehmigungspflicht entstehen. Ebenso wichtig sind Wandhöhe und Länge. Für Garagen nennt Art. 6 BayBO mittlere Wandhöhen bis 3 m und Längen bis 9 m je Grundstücksgrenze. Eine größere Grundfläche, längere Gesamtlänge oder höhere Wände können diese Grenzen überschreiten. Auch der Austausch eines flachen Dachs gegen ein Satteldach verä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Umbau und Erweiterung neu geprüft werden müssen</a:t>
            </a:r>
          </a:p>
        </p:txBody>
      </p:sp>
      <p:sp>
        <p:nvSpPr>
          <p:cNvPr id="3" name="Content Placeholder 2"/>
          <p:cNvSpPr>
            <a:spLocks noGrp="1"/>
          </p:cNvSpPr>
          <p:nvPr>
            <p:ph idx="1"/>
          </p:nvPr>
        </p:nvSpPr>
        <p:spPr/>
        <p:txBody>
          <a:bodyPr/>
          <a:lstStyle/>
          <a:p>
            <a:pPr>
              <a:defRPr sz="1800"/>
            </a:pPr>
            <a:r>
              <a:t>ndert die Geometrie. Bei einer neuen Dachform, zusätzlichen Solarmodulen oder einer bisher nicht berücksichtigten Schneelast ist die Tragfähigkeit des konkreten Bestands nachzuweisen; eine pauschale Belastbarkeit genügt nicht.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Grenzen und Befreiungslage im Blick behalten</a:t>
            </a:r>
          </a:p>
        </p:txBody>
      </p:sp>
      <p:sp>
        <p:nvSpPr>
          <p:cNvPr id="3" name="Content Placeholder 2"/>
          <p:cNvSpPr>
            <a:spLocks noGrp="1"/>
          </p:cNvSpPr>
          <p:nvPr>
            <p:ph idx="1"/>
          </p:nvPr>
        </p:nvSpPr>
        <p:spPr/>
        <p:txBody>
          <a:bodyPr/>
          <a:lstStyle/>
          <a:p>
            <a:pPr>
              <a:defRPr sz="1800"/>
            </a:pPr>
            <a:r>
              <a:t>Ein Carport kann baurechtlich unproblematisch sein, aber am gewählten Standort weiterhin Probleme verursachen. In München sind Garagen und Stellplätze in Vorgärten grundsätzlich nicht zulässig. Eine Befreiung kann bestimmte Voraussetzungen voraussetzen, darunter ein Ein- oder Zweifamilienwohnhaus, die Lage auf einer Zufahrt zu Garage oder Carport sowie transparente Dächer. Werden Maße, Material oder Dachgestaltung verändert, kann sich auch die Aussicht auf eine Befreiung ändern. An Grundstücksgrenzen müssen zudem bestehende privilegierte Nebengebäude mitgerechnet werden. Die nach Art. 6 BayBO begünstigte Bebauung darf an einer Grundstücksgren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Grenzen und Befreiungslage im Blick behalten</a:t>
            </a:r>
          </a:p>
        </p:txBody>
      </p:sp>
      <p:sp>
        <p:nvSpPr>
          <p:cNvPr id="3" name="Content Placeholder 2"/>
          <p:cNvSpPr>
            <a:spLocks noGrp="1"/>
          </p:cNvSpPr>
          <p:nvPr>
            <p:ph idx="1"/>
          </p:nvPr>
        </p:nvSpPr>
        <p:spPr/>
        <p:txBody>
          <a:bodyPr/>
          <a:lstStyle/>
          <a:p>
            <a:pPr>
              <a:defRPr sz="1800"/>
            </a:pPr>
            <a:r>
              <a:t>ze insgesamt nicht mehr als 15 m umfassen. Eine Kombination mit einem neuen Gerätehaus kann diese Grenze daher erreichen, auch wenn der einzelne Carport für sich betrachtet klein bleibt.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Vorprüfung</a:t>
            </a:r>
          </a:p>
        </p:txBody>
      </p:sp>
      <p:sp>
        <p:nvSpPr>
          <p:cNvPr id="3" name="Content Placeholder 2"/>
          <p:cNvSpPr>
            <a:spLocks noGrp="1"/>
          </p:cNvSpPr>
          <p:nvPr>
            <p:ph idx="1"/>
          </p:nvPr>
        </p:nvSpPr>
        <p:spPr/>
        <p:txBody>
          <a:bodyPr/>
          <a:lstStyle/>
          <a:p>
            <a:pPr>
              <a:defRPr sz="1800"/>
            </a:pPr>
            <a:r>
              <a:t>Für eine erste Einschätzung sollten Eigentümerinnen und Eigentümer den Bestand möglichst vollständig dokumentieren. Hilfreich sind ein Lageplan mit Grundstücksgrenzen, Bestandsgebäuden und geplanter Erweiterung sowie Bauakte, alte Pläne, Verwendungsnachweise und Baubeschreibungen. Fotos von Dachfläche, Anschlüssen und Entwässerung zeigen den tatsächlichen Zustand. Zusätzlich sollten die vorgesehene Nutzung, neue Maße, Dachform, Dacheindeckung und geplante Solaranlage konkret beschrieben sein. Wird das Dach vergrößert oder eine Rinne verlegt, muss außerdem die Wasserführung neu betrachtet werden: Ein vorhandener Kanalanschluss erlaubt nicht 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Vorprüfung</a:t>
            </a:r>
          </a:p>
        </p:txBody>
      </p:sp>
      <p:sp>
        <p:nvSpPr>
          <p:cNvPr id="3" name="Content Placeholder 2"/>
          <p:cNvSpPr>
            <a:spLocks noGrp="1"/>
          </p:cNvSpPr>
          <p:nvPr>
            <p:ph idx="1"/>
          </p:nvPr>
        </p:nvSpPr>
        <p:spPr/>
        <p:txBody>
          <a:bodyPr/>
          <a:lstStyle/>
          <a:p>
            <a:pPr>
              <a:defRPr sz="1800"/>
            </a:pPr>
            <a:r>
              <a:t>tomatisch jeden neuen Ablauf. Auch Denkmalschutz, Brandschutzabstände und mögliche nachbarrechtliche Wirkungen sollten frühzeitig berücksichtigt werden, damit spätere Schritte nicht bereits ausgeführte Arbeiten infrage stellen.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vor dem Baubeginn</a:t>
            </a:r>
          </a:p>
        </p:txBody>
      </p:sp>
      <p:sp>
        <p:nvSpPr>
          <p:cNvPr id="3" name="Content Placeholder 2"/>
          <p:cNvSpPr>
            <a:spLocks noGrp="1"/>
          </p:cNvSpPr>
          <p:nvPr>
            <p:ph idx="1"/>
          </p:nvPr>
        </p:nvSpPr>
        <p:spPr/>
        <p:txBody>
          <a:bodyPr/>
          <a:lstStyle/>
          <a:p>
            <a:pPr>
              <a:defRPr sz="1800"/>
            </a:pPr>
            <a:r>
              <a:t>Der praktische Ablauf beginnt mit dem Vergleich zwischen genehmigtem Bestand und geplantem Vorhaben. Danach lässt sich klären, ob der Bestandsschutz greift, ob die Maßnahme verfahrensfrei sein könnte oder eine neue Genehmigung erfordert ist. Bei erkennbaren Änderungen an Nutzung, Maßen oder Dachform ist eine schriftliche Einordnung durch die zuständige Stelle in München ratsam. Ergänzende Orientierung bietet der Ratgeber zur Carport-Baugenehmigung in Bayern. Für die standortspezifische Prüfung in München liefert der Beitrag zur Carport-Baugenehmigung München weitere Hinweise. Vor Auftragsvergabe sollte zudem feststehen, welche Unterlagen vorl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vor dem Baubeginn</a:t>
            </a:r>
          </a:p>
        </p:txBody>
      </p:sp>
      <p:sp>
        <p:nvSpPr>
          <p:cNvPr id="3" name="Content Placeholder 2"/>
          <p:cNvSpPr>
            <a:spLocks noGrp="1"/>
          </p:cNvSpPr>
          <p:nvPr>
            <p:ph idx="1"/>
          </p:nvPr>
        </p:nvSpPr>
        <p:spPr/>
        <p:txBody>
          <a:bodyPr/>
          <a:lstStyle/>
          <a:p>
            <a:pPr>
              <a:defRPr sz="1800"/>
            </a:pPr>
            <a:r>
              <a:t>iegen und welche statischen, baurechtlichen sowie entwässerungsbezogenen Nachweise für genau die vorgesehene Lösung erforderlich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im Bestand sanieren statt neu bauen: Bestandsschutz in München prüfen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
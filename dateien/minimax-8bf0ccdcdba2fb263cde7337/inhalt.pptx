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39carport.blogspot.com/2026/10/nachhaltiger-carport-so-erkennen-sie.html" TargetMode="External"/><Relationship Id="rId3" Type="http://schemas.openxmlformats.org/officeDocument/2006/relationships/hyperlink" Target="https://holzundhaus.github.io/039carport/dateien/minimax-8bf0ccdcdba2fb263cde733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Nachhaltiger Carport: So erkennen Sie wirklich umweltfreundliche Materialien · Erklärende Präsentation</a:t>
            </a:r>
          </a:p>
        </p:txBody>
      </p:sp>
      <p:sp>
        <p:nvSpPr>
          <p:cNvPr id="3" name="Content Placeholder 2"/>
          <p:cNvSpPr>
            <a:spLocks noGrp="1"/>
          </p:cNvSpPr>
          <p:nvPr>
            <p:ph idx="1"/>
          </p:nvPr>
        </p:nvSpPr>
        <p:spPr/>
        <p:txBody>
          <a:bodyPr/>
          <a:lstStyle/>
          <a:p>
            <a:r>
              <a:t>Überblick: Ein Carport erfüllt seinen Zweck über viele Jahre – doch „nachhaltig“ lässt sich nicht allein an der Materialangabe festmachen. Entscheidend ist, wie Rohstoffe gewonnen und verarbeitet werden, wie gut die Konstruktion Feuchte und Witterung standhält und ob beschädigte Bauteile später getrennt, wiederverwendet oder recycelt werden können. Dieser Leitfaden zeigt, welche Fragen bei der Auswahl eines Carports helfen, ohne pauschale Urteile über Holz, Aluminium oder Stahl zu treffen.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Nachhaltigkeit in drei Ebenen prüfen</a:t>
            </a:r>
          </a:p>
        </p:txBody>
      </p:sp>
      <p:sp>
        <p:nvSpPr>
          <p:cNvPr id="3" name="Content Placeholder 2"/>
          <p:cNvSpPr>
            <a:spLocks noGrp="1"/>
          </p:cNvSpPr>
          <p:nvPr>
            <p:ph idx="1"/>
          </p:nvPr>
        </p:nvSpPr>
        <p:spPr/>
        <p:txBody>
          <a:bodyPr/>
          <a:lstStyle/>
          <a:p>
            <a:pPr>
              <a:defRPr sz="1800"/>
            </a:pPr>
            <a:r>
              <a:t>Bei der Beurteilung eines Carports lohnen sich drei getrennte Blickwinkel. Erstens zählt die Herkunft: Woher stammen Holz, Aluminium oder Stahl, und welche Angaben gibt es zu Verarbeitung und Lieferkette? Zweitens ist die Lebensdauer wichtig. Eine pflegearme, lang nutzbare Konstruktion kann nachhaltiger sein als ein günstiges System, das bereits nach wenigen Jahren nachgebessert oder ersetzt werden muss. Drittens entscheidet die Verwertbarkeit: Lassen sich einzelne Komponenten austauschen, trennen und in einen passenden Verwertungsweg geben? Diese Fragen ergeben ein belastbareres Bild als die bloße Wahl zwischen „Holz“ und „Metall“.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Zertifikate richtig einordnen</a:t>
            </a:r>
          </a:p>
        </p:txBody>
      </p:sp>
      <p:sp>
        <p:nvSpPr>
          <p:cNvPr id="3" name="Content Placeholder 2"/>
          <p:cNvSpPr>
            <a:spLocks noGrp="1"/>
          </p:cNvSpPr>
          <p:nvPr>
            <p:ph idx="1"/>
          </p:nvPr>
        </p:nvSpPr>
        <p:spPr/>
        <p:txBody>
          <a:bodyPr/>
          <a:lstStyle/>
          <a:p>
            <a:pPr>
              <a:defRPr sz="1800"/>
            </a:pPr>
            <a:r>
              <a:t>Umweltzeichen und Zertifizierungen können Orientierung bieten, ersetzen aber keine Prüfung des konkreten Bauteils. FSC oder PEFC weisen bei Holz auf nachhaltige Forstwirtschaft und eine nachvollziehbare Lieferkette hin. Umweltzeichen wie Blauer Engel oder natureplus berücksichtigen mehrere Lebenszyklusphasen. Bei Metallen können Angaben zum Anteil recycelten Materials wichtig sein. Entscheidend ist stets der Geltungsbereich: Eine Zertifizierung des Unternehmens oder allgemeine Produktinformationen sind nicht automatisch ein Nachweis für genau dasProfil, die Platte oder das Zubehör, das bestellt werden soll. Lassen Sie sich deshalb die einschl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Zertifikate richtig einordnen</a:t>
            </a:r>
          </a:p>
        </p:txBody>
      </p:sp>
      <p:sp>
        <p:nvSpPr>
          <p:cNvPr id="3" name="Content Placeholder 2"/>
          <p:cNvSpPr>
            <a:spLocks noGrp="1"/>
          </p:cNvSpPr>
          <p:nvPr>
            <p:ph idx="1"/>
          </p:nvPr>
        </p:nvSpPr>
        <p:spPr/>
        <p:txBody>
          <a:bodyPr/>
          <a:lstStyle/>
          <a:p>
            <a:pPr>
              <a:defRPr sz="1800"/>
            </a:pPr>
            <a:r>
              <a:t>ägigen Nachweise zum jeweiligen Bauteil zeigen.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Herkunft, Transport und Verarbeitung vergleichen</a:t>
            </a:r>
          </a:p>
        </p:txBody>
      </p:sp>
      <p:sp>
        <p:nvSpPr>
          <p:cNvPr id="3" name="Content Placeholder 2"/>
          <p:cNvSpPr>
            <a:spLocks noGrp="1"/>
          </p:cNvSpPr>
          <p:nvPr>
            <p:ph idx="1"/>
          </p:nvPr>
        </p:nvSpPr>
        <p:spPr/>
        <p:txBody>
          <a:bodyPr/>
          <a:lstStyle/>
          <a:p>
            <a:pPr>
              <a:defRPr sz="1800"/>
            </a:pPr>
            <a:r>
              <a:t>Regionale Bezugsquellen können kurze Transportwege ermöglichen und zugleich Rücknahme oder Weiterverwertung erleichtern. Bei Holz sind zusätzlich die Herkunft, Sortierung und frühere Behandlung relevant. Recyceltes Holz kann beispielsweise aus zurückgebauten Gebäuden stammen; dokumentiert werden sollte, ob es sortiert ist und ob es für den vorgesehenen Einsatz geeignet ist. Besonders im Bodenbereich oder bei direkter Bewitterung ist eine fachgerechte Lösung für Feuchte-, UV- und mechanische Beanspruchung nötig. Auch bei Metallen lohnt der Vergleich: Produktausführung, Profilstärke, Verbindungen, Transportweg und zu erwartende Nutzungsdauer be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Herkunft, Transport und Verarbeitung vergleichen</a:t>
            </a:r>
          </a:p>
        </p:txBody>
      </p:sp>
      <p:sp>
        <p:nvSpPr>
          <p:cNvPr id="3" name="Content Placeholder 2"/>
          <p:cNvSpPr>
            <a:spLocks noGrp="1"/>
          </p:cNvSpPr>
          <p:nvPr>
            <p:ph idx="1"/>
          </p:nvPr>
        </p:nvSpPr>
        <p:spPr/>
        <p:txBody>
          <a:bodyPr/>
          <a:lstStyle/>
          <a:p>
            <a:pPr>
              <a:defRPr sz="1800"/>
            </a:pPr>
            <a:r>
              <a:t>einflussen die Umweltbilanz gemeinsam.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Nutzung und Pflege über Jahrzehnte einplanen</a:t>
            </a:r>
          </a:p>
        </p:txBody>
      </p:sp>
      <p:sp>
        <p:nvSpPr>
          <p:cNvPr id="3" name="Content Placeholder 2"/>
          <p:cNvSpPr>
            <a:spLocks noGrp="1"/>
          </p:cNvSpPr>
          <p:nvPr>
            <p:ph idx="1"/>
          </p:nvPr>
        </p:nvSpPr>
        <p:spPr/>
        <p:txBody>
          <a:bodyPr/>
          <a:lstStyle/>
          <a:p>
            <a:pPr>
              <a:defRPr sz="1800"/>
            </a:pPr>
            <a:r>
              <a:t>Die Nutzungsphase gehört zur Nachhaltigkeitsbetrachtung dazu. Beschichtungen, Lasuren und Reinigungsmaßnahmen beeinflussen die Bilanz, wenn Materialien regelmäßig behandelt werden müssen. Relevant sind daher die Angaben des Herstellers zu Pflegeintervallen, Schutz gegen Feuchte und UV sowie möglichen Beschichtungssyklen. Ebenso wichtig ist die Konstruktion: Wasserverluste, Korrosion, Holzschäden und locker werdende Verbindungen sollten nicht erst nach der Montage zum Problem werden. Ein Materialvergleich kann zeigen, welche Oberflächen und Wasserführungen für den geplanten Standort besser geeignet sind. Die einfache Frage lautet: Welche Pfleg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Nutzung und Pflege über Jahrzehnte einplanen</a:t>
            </a:r>
          </a:p>
        </p:txBody>
      </p:sp>
      <p:sp>
        <p:nvSpPr>
          <p:cNvPr id="3" name="Content Placeholder 2"/>
          <p:cNvSpPr>
            <a:spLocks noGrp="1"/>
          </p:cNvSpPr>
          <p:nvPr>
            <p:ph idx="1"/>
          </p:nvPr>
        </p:nvSpPr>
        <p:spPr/>
        <p:txBody>
          <a:bodyPr/>
          <a:lstStyle/>
          <a:p>
            <a:pPr>
              <a:defRPr sz="1800"/>
            </a:pPr>
            <a:r>
              <a:t>e ist tatsächlich nötig, und welche Lebensdauer ist bei regelmäßiger Wartung zu erwarten?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Reparieren statt vollständig ersetzen</a:t>
            </a:r>
          </a:p>
        </p:txBody>
      </p:sp>
      <p:sp>
        <p:nvSpPr>
          <p:cNvPr id="3" name="Content Placeholder 2"/>
          <p:cNvSpPr>
            <a:spLocks noGrp="1"/>
          </p:cNvSpPr>
          <p:nvPr>
            <p:ph idx="1"/>
          </p:nvPr>
        </p:nvSpPr>
        <p:spPr/>
        <p:txBody>
          <a:bodyPr/>
          <a:lstStyle/>
          <a:p>
            <a:pPr>
              <a:defRPr sz="1800"/>
            </a:pPr>
            <a:r>
              <a:t>Einzelne Bauteile auszutauschen statt die gesamte Konstruktion zu erneuern, verlängert die Nutzungsdauer und kann Abfall vermeiden. Prüfen Sie daher vor der Bestellung, ob Dachtragung, Verkleidung, Befestigungen oder Beschichtungen einzeln erreichbar sind. Bei einer späteren Rückgabe oder Umgestaltung wirkt sich außerdem aus, ob verschiedene Materialien sauber getrennt werden können. Holz kann thermisch oder stofflich verwertet werden; Aluminium und Stahl sind gut für metallurgisches Recycling geeignet. Für einen möglichst vollständigen Rückbau sollten Befestigungsarten und Materialtrennung bereits im Planungsstadium berücksichtigt werden. So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Reparieren statt vollständig ersetzen</a:t>
            </a:r>
          </a:p>
        </p:txBody>
      </p:sp>
      <p:sp>
        <p:nvSpPr>
          <p:cNvPr id="3" name="Content Placeholder 2"/>
          <p:cNvSpPr>
            <a:spLocks noGrp="1"/>
          </p:cNvSpPr>
          <p:nvPr>
            <p:ph idx="1"/>
          </p:nvPr>
        </p:nvSpPr>
        <p:spPr/>
        <p:txBody>
          <a:bodyPr/>
          <a:lstStyle/>
          <a:p>
            <a:pPr>
              <a:defRPr sz="1800"/>
            </a:pPr>
            <a:r>
              <a:t> wird aus dem nachhaltigen Anspruch ein prüfbarer Entscheidungspunkt.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Konkrete Fragen für das Anbietergespräch</a:t>
            </a:r>
          </a:p>
        </p:txBody>
      </p:sp>
      <p:sp>
        <p:nvSpPr>
          <p:cNvPr id="3" name="Content Placeholder 2"/>
          <p:cNvSpPr>
            <a:spLocks noGrp="1"/>
          </p:cNvSpPr>
          <p:nvPr>
            <p:ph idx="1"/>
          </p:nvPr>
        </p:nvSpPr>
        <p:spPr/>
        <p:txBody>
          <a:bodyPr/>
          <a:lstStyle/>
          <a:p>
            <a:pPr>
              <a:defRPr sz="1800"/>
            </a:pPr>
            <a:r>
              <a:t>Eine belastbare Entscheidung wird möglich, wenn Antworten statt allgemeiner Werbeaussagen vorliegen. Sinnvolle Fragen sind: Aus welchen Quellen stammen die Materialien? Welche Bauteile enthalten recyceltes Material, und welcher Anteil ist jeweils ausgewiesen? Wie ist die Konstruktion gegen Feuchte, UV und mechanische Belastung geschützt? Welche Pflegeintervalle nennt der Hersteller? Lassen sich Komponenten einzeln ersetzen, trennen und wiederverwenden? Für einen CO2-Vergleich sollten zudem Produktdaten und Angaben zu Primärenergie oder Treibhausgasemissionen angefragt werden. Allgemeine Werkstoffvergleiche dienen nur als grober Anhaltspunkt;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Konkrete Fragen für das Anbietergespräch</a:t>
            </a:r>
          </a:p>
        </p:txBody>
      </p:sp>
      <p:sp>
        <p:nvSpPr>
          <p:cNvPr id="3" name="Content Placeholder 2"/>
          <p:cNvSpPr>
            <a:spLocks noGrp="1"/>
          </p:cNvSpPr>
          <p:nvPr>
            <p:ph idx="1"/>
          </p:nvPr>
        </p:nvSpPr>
        <p:spPr/>
        <p:txBody>
          <a:bodyPr/>
          <a:lstStyle/>
          <a:p>
            <a:pPr>
              <a:defRPr sz="1800"/>
            </a:pPr>
            <a:r>
              <a:t>maßgeblich bleibt das konkrete Produkt an seinem vorgesehenen Standort.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Nachhaltiger Carport: So erkennen Sie wirklich umweltfreundliche Materialien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